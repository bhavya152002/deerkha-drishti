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8BFA4"/>
                </a:solidFill>
                <a:latin typeface="Consolas"/>
              </a:rPr>
              <a:t>DEERKHA DRISHTI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95728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E2E7DC"/>
                </a:solidFill>
                <a:latin typeface="Segoe UI"/>
              </a:rPr>
              <a:t>System Architecture &amp;</a:t>
            </a:r>
          </a:p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E2E7DC"/>
                </a:solidFill>
                <a:latin typeface="Segoe UI"/>
              </a:rPr>
              <a:t>Technical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041648"/>
            <a:ext cx="21945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A2AC99"/>
                </a:solidFill>
                <a:latin typeface="Segoe UI"/>
              </a:rPr>
              <a:t>Wildlife detection, deterrence and alerting across distributed forest sites.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A2AC99"/>
                </a:solidFill>
                <a:latin typeface="Segoe UI"/>
              </a:rPr>
              <a:t>How every part connects — and what it takes to scale well past the current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806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826F"/>
                </a:solidFill>
                <a:latin typeface="Consolas"/>
              </a:rPr>
              <a:t>PREPARED FOR TECHNICAL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What this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499616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A ·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What it does, and the three tiers it is built from.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03120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B · Connection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Every data path: config down, telemetry up, alerts up, video on demand.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706624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C · Edge internals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Camera to alert, inside one Jetson.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31012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27832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D · Server internals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Request paths, data model, caching.</a:t>
            </a:r>
          </a:p>
        </p:txBody>
      </p:sp>
      <p:sp>
        <p:nvSpPr>
          <p:cNvPr id="19" name="Oval 18"/>
          <p:cNvSpPr/>
          <p:nvPr/>
        </p:nvSpPr>
        <p:spPr>
          <a:xfrm>
            <a:off x="6327648" y="1499616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41732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E · Deployment &amp;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One artifact, many boxes. Canary, health gate, rollback.</a:t>
            </a:r>
          </a:p>
        </p:txBody>
      </p:sp>
      <p:sp>
        <p:nvSpPr>
          <p:cNvPr id="22" name="Oval 21"/>
          <p:cNvSpPr/>
          <p:nvPr/>
        </p:nvSpPr>
        <p:spPr>
          <a:xfrm>
            <a:off x="6327648" y="2103120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20824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F · Capacity &amp;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95144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Measured limits now, and the path well beyond the current target.</a:t>
            </a:r>
          </a:p>
        </p:txBody>
      </p:sp>
      <p:sp>
        <p:nvSpPr>
          <p:cNvPr id="25" name="Oval 24"/>
          <p:cNvSpPr/>
          <p:nvPr/>
        </p:nvSpPr>
        <p:spPr>
          <a:xfrm>
            <a:off x="6327648" y="2706624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624328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G ·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98648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What is built, what is pending, what is deliberately deferred.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440680"/>
            <a:ext cx="10874959" cy="85039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440680"/>
            <a:ext cx="41148" cy="85039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541264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FRAMING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769864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Figures in this deck are either read directly from the code or derived from it. Where a number is modelled rather than measured, it is labelled as such.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What it does, and the three tiers it is built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The problem, and what the system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Wildlife enters farmland and forest-edge settlements at night. Detection has to happen where the cameras are — the connectivity is not good enough to send video anywhere.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A ·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98424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956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RTSP cameras watched continuously. Motion gates a TensorRT object detector; a second vision-language model confirms the species.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825496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956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Deter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Confirmed species trigger relay-driven lights and audio playback, per species.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28999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46703"/>
            <a:ext cx="4956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21023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Telegram message with the annotated frame, plus a durable row in the detection history.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032503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7"/>
            <a:ext cx="4956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7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Continuous motion video and stills kept locally on a retention window.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1947672"/>
            <a:ext cx="5029200" cy="96012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53412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All inference happens at the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46020"/>
            <a:ext cx="4882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no video leaves the site unless asked for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21868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136392"/>
            <a:ext cx="4773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Why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410712"/>
            <a:ext cx="4773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Field links are metered 4G. Streaming raw video to a central detector would be both unaffordable and unavailable when the link drops.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405993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977639"/>
            <a:ext cx="4773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Consequence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251959"/>
            <a:ext cx="4773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Each site keeps working through a total network outage. The server is for configuration, visibility and history — never for the detection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Three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A ·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246120" cy="502920"/>
          </a:xfrm>
          <a:prstGeom prst="roundRect">
            <a:avLst>
              <a:gd name="adj" fmla="val 6000"/>
            </a:avLst>
          </a:prstGeom>
          <a:solidFill>
            <a:srgbClr val="1F7A66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668780"/>
            <a:ext cx="3099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961388"/>
            <a:ext cx="3099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D6E7E0"/>
                </a:solidFill>
                <a:latin typeface="Consolas"/>
              </a:rPr>
              <a:t>Jetson Orin Nano, one per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691640"/>
            <a:ext cx="3246120" cy="502920"/>
          </a:xfrm>
          <a:prstGeom prst="roundRect">
            <a:avLst>
              <a:gd name="adj" fmla="val 6000"/>
            </a:avLst>
          </a:prstGeom>
          <a:solidFill>
            <a:srgbClr val="1F7A66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68780"/>
            <a:ext cx="3099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1388"/>
            <a:ext cx="3099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D6E7E0"/>
                </a:solidFill>
                <a:latin typeface="Consolas"/>
              </a:rPr>
              <a:t>single VPS, Mumbai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691640"/>
            <a:ext cx="3246120" cy="502920"/>
          </a:xfrm>
          <a:prstGeom prst="roundRect">
            <a:avLst>
              <a:gd name="adj" fmla="val 6000"/>
            </a:avLst>
          </a:prstGeom>
          <a:solidFill>
            <a:srgbClr val="1F7A66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68780"/>
            <a:ext cx="3099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CONSUMERS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1388"/>
            <a:ext cx="3099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D6E7E0"/>
                </a:solidFill>
                <a:latin typeface="Consolas"/>
              </a:rPr>
              <a:t>browsers and Telegram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58568"/>
            <a:ext cx="3246120" cy="1719072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8" y="2258568"/>
            <a:ext cx="3246120" cy="1719072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2258568"/>
            <a:ext cx="3246120" cy="1719072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24231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018"/>
                </a:solidFill>
                <a:latin typeface="Segoe UI"/>
              </a:rPr>
              <a:t>· Camera capture and decode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4231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018"/>
                </a:solidFill>
                <a:latin typeface="Segoe UI"/>
              </a:rPr>
              <a:t>· Configuration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4231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B2018"/>
                </a:solidFill>
                <a:latin typeface="Segoe UI"/>
              </a:rPr>
              <a:t>· 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275234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Motion, detection, species 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275234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Device telemetry ingest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75234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Live camera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08152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Deterrence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08152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Detection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308152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Detection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107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Local recording and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34107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Fleet deployment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34107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Telegram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37398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Alert dispatch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4296" y="37398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Backups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37398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· Client dashboard (planned)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251959"/>
            <a:ext cx="10874959" cy="85039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251959"/>
            <a:ext cx="41148" cy="85039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4352544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THE LOAD-BEARING PROPERTY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4581144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The edge tier is autonomous. It boots and detects on a cached configuration, so neither the server nor the internet is in the detection path. Everything else in this deck follows from that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Physical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Where the boxes actually are, and what carries traffic between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A ·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39112"/>
            <a:ext cx="3931920" cy="283464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5798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8474"/>
                </a:solidFill>
                <a:latin typeface="Consolas"/>
              </a:rPr>
              <a:t>FOREST SITE  ×7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25603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2252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2018"/>
                </a:solidFill>
                <a:latin typeface="Segoe UI"/>
              </a:rPr>
              <a:t>Camera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035808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12252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2018"/>
                </a:solidFill>
                <a:latin typeface="Segoe UI"/>
              </a:rPr>
              <a:t>Camera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511296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11296"/>
            <a:ext cx="12252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2018"/>
                </a:solidFill>
                <a:latin typeface="Segoe UI"/>
              </a:rPr>
              <a:t>Camera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4164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… up to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2862072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022092"/>
            <a:ext cx="1453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Jetson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14700"/>
            <a:ext cx="1453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Orin Nano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2752344"/>
            <a:ext cx="493776" cy="539496"/>
          </a:xfrm>
          <a:prstGeom prst="line">
            <a:avLst/>
          </a:prstGeom>
          <a:ln w="13970">
            <a:solidFill>
              <a:srgbClr val="7C8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3227832"/>
            <a:ext cx="493776" cy="64008"/>
          </a:xfrm>
          <a:prstGeom prst="line">
            <a:avLst/>
          </a:prstGeom>
          <a:ln w="13970">
            <a:solidFill>
              <a:srgbClr val="7C8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6000" y="3291840"/>
            <a:ext cx="493776" cy="411480"/>
          </a:xfrm>
          <a:prstGeom prst="line">
            <a:avLst/>
          </a:prstGeom>
          <a:ln w="13970">
            <a:solidFill>
              <a:srgbClr val="7C8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81328" y="4297680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RTSP over the site's own 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76088" y="2862072"/>
            <a:ext cx="2103120" cy="86868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022092"/>
            <a:ext cx="1956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Tailscale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314700"/>
            <a:ext cx="1956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WireGuard mesh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53128" y="3291840"/>
            <a:ext cx="795527" cy="0"/>
          </a:xfrm>
          <a:prstGeom prst="line">
            <a:avLst/>
          </a:prstGeom>
          <a:ln w="2032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15968" y="347472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4G / LTE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9288" y="2039112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21579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8474"/>
                </a:solidFill>
                <a:latin typeface="Consolas"/>
              </a:rPr>
              <a:t>VPS · MUMBAI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2542032"/>
            <a:ext cx="3108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542032"/>
            <a:ext cx="2962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nginx + TLS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3090672"/>
            <a:ext cx="3108960" cy="45720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090672"/>
            <a:ext cx="2962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FastAPI application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3639312"/>
            <a:ext cx="3108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639312"/>
            <a:ext cx="2962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PostgreSQL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47888" y="4187952"/>
            <a:ext cx="3108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87952"/>
            <a:ext cx="2962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backups + retention timers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06640" y="3291840"/>
            <a:ext cx="585216" cy="0"/>
          </a:xfrm>
          <a:prstGeom prst="line">
            <a:avLst/>
          </a:prstGeom>
          <a:ln w="2032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02368" y="4919472"/>
            <a:ext cx="0" cy="365760"/>
          </a:xfrm>
          <a:prstGeom prst="line">
            <a:avLst/>
          </a:prstGeom>
          <a:ln w="20320">
            <a:solidFill>
              <a:srgbClr val="7C8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47888" y="5303520"/>
            <a:ext cx="310896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5303520"/>
            <a:ext cx="29626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browsers  ·  HTTPS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193792"/>
            <a:ext cx="6949440" cy="850392"/>
          </a:xfrm>
          <a:prstGeom prst="rect">
            <a:avLst/>
          </a:prstGeom>
          <a:solidFill>
            <a:srgbClr val="F7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5193792"/>
            <a:ext cx="41148" cy="850392"/>
          </a:xfrm>
          <a:prstGeom prst="rect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" y="5294376"/>
            <a:ext cx="6583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6412"/>
                </a:solidFill>
                <a:latin typeface="Consolas"/>
              </a:rPr>
              <a:t>ONE CONSEQUENCE TO HOLD ONTO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" y="5522976"/>
            <a:ext cx="654710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Cameras are reachable only from their own Jetson. Nothing in the cloud can talk to a camera — which is why live view is a proxied pull rather than a stream the site pushes.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Connection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Every data path in the system: what initiates it, what carries it, and how often.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Four data flows — and every one is edge-initiated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B · CONNECTION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0874959" cy="841248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45720" cy="841248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7A66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544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2018"/>
                </a:solidFill>
                <a:latin typeface="Segoe UI"/>
              </a:rPr>
              <a:t>Configuration  ·  server →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85623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Edge polls every 30 s. Cheap version check first; the full blob only when the hash changed.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81767" y="1673352"/>
            <a:ext cx="8686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81767" y="1737360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7A66"/>
                </a:solidFill>
                <a:latin typeface="Consolas"/>
              </a:rPr>
              <a:t>PULL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368296"/>
            <a:ext cx="10874959" cy="841248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368296"/>
            <a:ext cx="45720" cy="841248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5117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7A6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250545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2018"/>
                </a:solidFill>
                <a:latin typeface="Segoe UI"/>
              </a:rPr>
              <a:t>Telemetry  ·  edge →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2807208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Heartbeat every 60 s: cameras alive, config version, disk free, release tag, error counters.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81767" y="2624328"/>
            <a:ext cx="8686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81767" y="2688336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7A66"/>
                </a:solidFill>
                <a:latin typeface="Consolas"/>
              </a:rPr>
              <a:t>PUSH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19272"/>
            <a:ext cx="10874959" cy="841248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19272"/>
            <a:ext cx="45720" cy="841248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0215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7A66"/>
                </a:solidFill>
                <a:latin typeface="Consol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345643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2018"/>
                </a:solidFill>
                <a:latin typeface="Segoe UI"/>
              </a:rPr>
              <a:t>Detections  ·  edge →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758183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One row per confirmed alert, written directly. Telegram sent in parallel from the edge.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81767" y="3575304"/>
            <a:ext cx="8686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1767" y="3639312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F7A66"/>
                </a:solidFill>
                <a:latin typeface="Consolas"/>
              </a:rPr>
              <a:t>PUSH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70248"/>
            <a:ext cx="10874959" cy="841248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270248"/>
            <a:ext cx="45720" cy="841248"/>
          </a:xfrm>
          <a:prstGeom prst="rect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531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A6412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7" y="440740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B2018"/>
                </a:solidFill>
                <a:latin typeface="Segoe UI"/>
              </a:rPr>
              <a:t>Live video  ·  browser → server → 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5607" y="470916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Only while somebody is watching. Server proxies; the browser never reaches a Jetson.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81767" y="4526280"/>
            <a:ext cx="8686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81767" y="4590288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A6412"/>
                </a:solidFill>
                <a:latin typeface="Consolas"/>
              </a:rPr>
              <a:t>PULL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39512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239512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34009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WHY THIS MATTERS FOR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56869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No inbound connection to a field site is ever required. Every site sits behind whatever NAT its 4G carrier provides, with no port forwarding and no public address.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How a setting reaches a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Worked example: an operator changes a detection threshold in the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B · CONNECTION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08</a:t>
            </a:r>
          </a:p>
        </p:txBody>
      </p:sp>
      <p:sp>
        <p:nvSpPr>
          <p:cNvPr id="8" name="Oval 7"/>
          <p:cNvSpPr/>
          <p:nvPr/>
        </p:nvSpPr>
        <p:spPr>
          <a:xfrm>
            <a:off x="676656" y="1956816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01168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9202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Operator saves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19202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Dashboard writes the row and calls one shared function.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3" y="2286000"/>
            <a:ext cx="0" cy="164592"/>
          </a:xfrm>
          <a:prstGeom prst="line">
            <a:avLst/>
          </a:prstGeom>
          <a:ln w="15240">
            <a:solidFill>
              <a:srgbClr val="C7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6656" y="2560320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615184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5237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Version recomputed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52374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The whole device configuration is reassembled and hashed. That SHA-256 is the config version, stored on the device row.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3" y="2889504"/>
            <a:ext cx="0" cy="164592"/>
          </a:xfrm>
          <a:prstGeom prst="line">
            <a:avLst/>
          </a:prstGeom>
          <a:ln w="15240">
            <a:solidFill>
              <a:srgbClr val="C7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6656" y="3163824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218688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127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Cache warmed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312724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The freshly assembled blob is put in an in-process cache keyed by that hash.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3" y="3493008"/>
            <a:ext cx="0" cy="164592"/>
          </a:xfrm>
          <a:prstGeom prst="line">
            <a:avLst/>
          </a:prstGeom>
          <a:ln w="15240">
            <a:solidFill>
              <a:srgbClr val="C7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6656" y="3767328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82219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7307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Edge polls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373075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Within 30 s the device asks for its version — two database round-trips, no assembly.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3" y="4096512"/>
            <a:ext cx="0" cy="164592"/>
          </a:xfrm>
          <a:prstGeom prst="line">
            <a:avLst/>
          </a:prstGeom>
          <a:ln w="15240">
            <a:solidFill>
              <a:srgbClr val="C7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76656" y="4370832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442569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" y="43342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Hash differs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4334256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The device fetches the full blob. A cache hit costs no database work at all.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3" y="4700016"/>
            <a:ext cx="0" cy="164592"/>
          </a:xfrm>
          <a:prstGeom prst="line">
            <a:avLst/>
          </a:prstGeom>
          <a:ln w="15240">
            <a:solidFill>
              <a:srgbClr val="C7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76656" y="4974336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502920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49377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Applied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493776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Immutable snapshot swapped in. Most settings take effect on the next frame.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2103" y="5303520"/>
            <a:ext cx="0" cy="164592"/>
          </a:xfrm>
          <a:prstGeom prst="line">
            <a:avLst/>
          </a:prstGeom>
          <a:ln w="15240">
            <a:solidFill>
              <a:srgbClr val="C7C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76656" y="5577840"/>
            <a:ext cx="310896" cy="310896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632704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55412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Acknowledged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554126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The device reports the version it is running, which the dashboard displays.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9528" y="1993392"/>
            <a:ext cx="1874519" cy="183337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9528" y="1993392"/>
            <a:ext cx="41148" cy="183337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0696" y="2093976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RESTART?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0696" y="2322576"/>
            <a:ext cx="1472184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Only detection resolution and model paths need a restart. Everything else — including adding or removing a camera — applies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Detection path — pixels to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Inside one Jetson, for one camera. Every stage exists to avoid doing the next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B · CONNECTION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RTSP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H.265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29968" y="2706624"/>
            <a:ext cx="18288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31136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Hardware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NVDEC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2736" y="2706624"/>
            <a:ext cx="182879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03904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6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Motion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056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640×360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75504" y="2706624"/>
            <a:ext cx="18288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76672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Object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RF-DETR TRT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48271" y="2706624"/>
            <a:ext cx="18288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49440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Species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MobileCLIP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706624"/>
            <a:ext cx="18288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522208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Confirm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N frames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93808" y="2706624"/>
            <a:ext cx="18288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94976" y="2221992"/>
            <a:ext cx="1353312" cy="960120"/>
          </a:xfrm>
          <a:prstGeom prst="roundRect">
            <a:avLst>
              <a:gd name="adj" fmla="val 6000"/>
            </a:avLst>
          </a:prstGeom>
          <a:solidFill>
            <a:srgbClr val="E2EEE1"/>
          </a:solidFill>
          <a:ln w="12700">
            <a:solidFill>
              <a:srgbClr val="3F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68128" y="242773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720340"/>
            <a:ext cx="12070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alert + deter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" y="355701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47472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Motion gates everything downstream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749039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An idle camera runs no inference at all. This is what makes eight cameras per box possible on a 1024-core GPU.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" y="4398263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315967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Inference is paced, not free-running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90287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Five inferences per second per camera. Uncapped, the loop re-ran on the same frame at up to 100 Hz, burning GPU to recompute an identical answer.</a:t>
            </a:r>
          </a:p>
        </p:txBody>
      </p:sp>
      <p:sp>
        <p:nvSpPr>
          <p:cNvPr id="41" name="Oval 40"/>
          <p:cNvSpPr/>
          <p:nvPr/>
        </p:nvSpPr>
        <p:spPr>
          <a:xfrm>
            <a:off x="6327648" y="355701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47472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Confirmation is temporal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749039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A species must persist across a window of frames before it counts. This is what removes single-frame false positives.</a:t>
            </a:r>
          </a:p>
        </p:txBody>
      </p:sp>
      <p:sp>
        <p:nvSpPr>
          <p:cNvPr id="44" name="Oval 43"/>
          <p:cNvSpPr/>
          <p:nvPr/>
        </p:nvSpPr>
        <p:spPr>
          <a:xfrm>
            <a:off x="6327648" y="4398263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315967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Results expire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590287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A published detection is only trusted for ~1.5 s. Without that bound, a camera keeps acting on a frozen frame after motion ends — which is a real failure this system had.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Live video — the one path that costs real money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B · CONNECTION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1965960" cy="77724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714499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007107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HTTPS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42615" y="1984248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5" y="1600200"/>
            <a:ext cx="1965960" cy="77724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714499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007107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TLS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1984248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84064" y="1600200"/>
            <a:ext cx="1965960" cy="77724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1714499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007107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proxy + cache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1984248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96912" y="1600200"/>
            <a:ext cx="1965960" cy="77724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3" y="1714499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Tailscale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3" y="2007107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WireGuard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1159" y="1984248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59" y="1600200"/>
            <a:ext cx="1965960" cy="77724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1" y="1714499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Jetson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1" y="2007107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in-memory frame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606040"/>
            <a:ext cx="10874959" cy="292608"/>
          </a:xfrm>
          <a:prstGeom prst="rect">
            <a:avLst/>
          </a:prstGeom>
          <a:solidFill>
            <a:srgbClr val="E4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2633472"/>
            <a:ext cx="351460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5582" y="2633472"/>
            <a:ext cx="6994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Effect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2980944"/>
            <a:ext cx="351460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Tile size 480 px at quality 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5582" y="2980944"/>
            <a:ext cx="6994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The grid renders ~320 px tiles. Serving 1280 px shipped 16× the pixels displayed.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300984"/>
            <a:ext cx="10874959" cy="402336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383279"/>
            <a:ext cx="351460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Refresh every 5 s, not 1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582" y="3383279"/>
            <a:ext cx="6994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Five-fold reduction. Sub-second refresh was removed entirely.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785616"/>
            <a:ext cx="351460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2-second server-side cache with request coalescing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582" y="3785616"/>
            <a:ext cx="6994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Cost scales with cameras, not with viewers. Ten people watching one camera cost one fetch from the field.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105656"/>
            <a:ext cx="10874959" cy="402336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187952"/>
            <a:ext cx="351460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Polling stops when the tab is hidden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5582" y="4187952"/>
            <a:ext cx="6994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Removes the failure that actually happens: a dashboard left open overnight.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4590288"/>
            <a:ext cx="351460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Concurrent video streams capped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582" y="4590288"/>
            <a:ext cx="699459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Continuous MJPEG is the expensive mode; it is bounded and admin-only.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2606040"/>
            <a:ext cx="10874959" cy="2304288"/>
          </a:xfrm>
          <a:prstGeom prst="rect">
            <a:avLst/>
          </a:prstGeom>
          <a:noFill/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37760"/>
            <a:ext cx="10874959" cy="850392"/>
          </a:xfrm>
          <a:prstGeom prst="rect">
            <a:avLst/>
          </a:prstGeom>
          <a:solidFill>
            <a:srgbClr val="F7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937760"/>
            <a:ext cx="41148" cy="850392"/>
          </a:xfrm>
          <a:prstGeom prst="rect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5038344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6412"/>
                </a:solidFill>
                <a:latin typeface="Consolas"/>
              </a:rPr>
              <a:t>WHY IT WAS WORTH THIS MUCH ATTENTION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5266944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Before these controls an eight-camera grid ran roughly 76 GB per day of site uplink. On a metered 4G link that also starves the config poll and the heartbeat — so the device shows OFFLINE precisely because somebody is watching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Security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What is reachable from where.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B · CONNECTION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10874959" cy="292608"/>
          </a:xfrm>
          <a:prstGeom prst="rect">
            <a:avLst/>
          </a:prstGeom>
          <a:solidFill>
            <a:srgbClr val="E4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9384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5585" y="1929384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Reachable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575" y="1929384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Protected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5585" y="2267712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public internet,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2267712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session cookie, `Secure` + signed; per-IP login rate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78608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51760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Client dashboard (planned)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5585" y="2651760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public internet, 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5575" y="2651760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separate hostname; admin routes hard-blocked at 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035808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Device API — config, heartbeat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5585" y="3035808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tailnet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5575" y="3035808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per-device bearer token, scoped to that device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46703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19856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Live frame server on the Jetson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5585" y="3419856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tailnet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575" y="3419856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device token; the browser never sees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803904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5585" y="3803904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loopback + tailnet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5575" y="3803904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app role; devices get a separate INSERT-only role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14800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187952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Application port 8000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5585" y="4187952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not 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5575" y="4187952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firewall default-deny; verified by an explicit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572000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Cameras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5585" y="4572000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site LAN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5575" y="4572000"/>
            <a:ext cx="52545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unreachable from the internet by construction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1901952"/>
            <a:ext cx="10874959" cy="2980944"/>
          </a:xfrm>
          <a:prstGeom prst="rect">
            <a:avLst/>
          </a:prstGeom>
          <a:noFill/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965192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965192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06577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TWO INDEPENDENT LOCKS ON THE CLIENT 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529437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Role checks in the application are the real control. The customer-facing hostname additionally refuses admin and device routes at the proxy, so a future mistake in one layer is not sufficient on its 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Edge internals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What runs on one Jetson, and why it is arranged that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Threads and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Per camera, plus the process-wide workers.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C · EDGE INTERNALS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214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8474"/>
                </a:solidFill>
                <a:latin typeface="Consolas"/>
              </a:rPr>
              <a:t>PER CAMERA  ×N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2468880"/>
            <a:ext cx="502920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018"/>
                </a:solidFill>
                <a:latin typeface="Segoe UI"/>
              </a:rPr>
              <a:t>Capture 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882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pulls decoded frames from GStreamer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3072384"/>
            <a:ext cx="502920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54096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018"/>
                </a:solidFill>
                <a:latin typeface="Segoe UI"/>
              </a:rPr>
              <a:t>Motion + record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46704"/>
            <a:ext cx="4882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motion detection, recording, alert dispatch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3675888"/>
            <a:ext cx="502920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57600"/>
            <a:ext cx="4882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1B2018"/>
                </a:solidFill>
                <a:latin typeface="Segoe UI"/>
              </a:rPr>
              <a:t>Inference thread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4882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paced object detection and species confirm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1993392"/>
            <a:ext cx="5029200" cy="24231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1214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8474"/>
                </a:solidFill>
                <a:latin typeface="Consolas"/>
              </a:rPr>
              <a:t>PROCESS-WIDE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468880"/>
            <a:ext cx="47548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468880"/>
            <a:ext cx="4608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Config poller — 30 s, with backoff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9128" y="2852928"/>
            <a:ext cx="47548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852928"/>
            <a:ext cx="4608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Heartbeat — 60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39128" y="3236976"/>
            <a:ext cx="47548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236976"/>
            <a:ext cx="4608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Camera reconciler — applies roster changes 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39128" y="3621024"/>
            <a:ext cx="47548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621024"/>
            <a:ext cx="4608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Storage cleanup — every 30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39128" y="4005072"/>
            <a:ext cx="4754880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005072"/>
            <a:ext cx="46085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Live frame server — serves already-decoded frames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599432"/>
            <a:ext cx="10874959" cy="85039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99432"/>
            <a:ext cx="41148" cy="85039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70001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DELIBERATE: ONE PROCESS, NOT ONE PER CAMERA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92861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Per-camera processes would be the obvious way to escape Python's global lock — but each would carry its own copy of the inference engines and CUDA context, roughly 2.5 GB. On an 8 GB board that is an immediate out-of-memory failure.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596128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5596128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696712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LIVE FRAME SERVER REUSES DECODED FRAMES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925312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The live view never opens a second decode of the camera. It publishes frames the detection pipeline has already produced, so viewing costs encode time only.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Recording, storage and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C · EDGE INTERNALS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377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7A66"/>
                </a:solidFill>
                <a:latin typeface="Segoe UI"/>
              </a:rPr>
              <a:t>~21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per camera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311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7C8474"/>
                </a:solidFill>
                <a:latin typeface="Segoe UI"/>
              </a:rPr>
              <a:t>modelled: 1080p H.265 at 3 Mbps, 60% motion duty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463040"/>
            <a:ext cx="2377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7A66"/>
                </a:solidFill>
                <a:latin typeface="Segoe UI"/>
              </a:rPr>
              <a:t>~168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01168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per box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2311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7C8474"/>
                </a:solidFill>
                <a:latin typeface="Segoe UI"/>
              </a:rPr>
              <a:t>at 8 cameras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463040"/>
            <a:ext cx="2377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7A66"/>
                </a:solidFill>
                <a:latin typeface="Segoe UI"/>
              </a:rPr>
              <a:t>465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01168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NVMe fitted per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23113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7C8474"/>
                </a:solidFill>
                <a:latin typeface="Segoe UI"/>
              </a:rPr>
              <a:t>the actual field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463040"/>
            <a:ext cx="2651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8A6412"/>
                </a:solidFill>
                <a:latin typeface="Segoe UI"/>
              </a:rPr>
              <a:t>~2.4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201168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retention that buys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23113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7C8474"/>
                </a:solidFill>
                <a:latin typeface="Segoe UI"/>
              </a:rPr>
              <a:t>at 8 cameras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287121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Two rules, every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63239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Delete folders older than the window; then, while free space is below the floor, delete the oldest remaining.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3712463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30168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Night-window aware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4487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Between midnight and dawn the pipeline still writes into the previous day's folder, so cleanup mirrors that arithmetic exactly rather than trusting the calendar.</a:t>
            </a:r>
          </a:p>
        </p:txBody>
      </p:sp>
      <p:sp>
        <p:nvSpPr>
          <p:cNvPr id="25" name="Oval 24"/>
          <p:cNvSpPr/>
          <p:nvPr/>
        </p:nvSpPr>
        <p:spPr>
          <a:xfrm>
            <a:off x="6327648" y="287121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78892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Runs in-process, not on a timer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63239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An external job cannot know which folder is being written to right now. Deleting a live folder under space pressure at 3am is real data loss.</a:t>
            </a:r>
          </a:p>
        </p:txBody>
      </p:sp>
      <p:sp>
        <p:nvSpPr>
          <p:cNvPr id="28" name="Oval 27"/>
          <p:cNvSpPr/>
          <p:nvPr/>
        </p:nvSpPr>
        <p:spPr>
          <a:xfrm>
            <a:off x="6327648" y="3712463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630168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Evidence is prioritised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04487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Under pressure, bulk motion video is reclaimed before confirmed-detection footage and stills.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562855"/>
            <a:ext cx="10874959" cy="1243584"/>
          </a:xfrm>
          <a:prstGeom prst="rect">
            <a:avLst/>
          </a:prstGeom>
          <a:solidFill>
            <a:srgbClr val="F7E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62855"/>
            <a:ext cx="41148" cy="1243584"/>
          </a:xfrm>
          <a:prstGeom prst="rect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663439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6412"/>
                </a:solidFill>
                <a:latin typeface="Consolas"/>
              </a:rPr>
              <a:t>RETENTION IS SET BY CAMERA BITRATE, NOT BY DISK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892039"/>
            <a:ext cx="10472623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At a 3 Mbps main stream the fitted 465 GB NVMe holds about 2.4 days across 8 cameras, and closer to 1.5 days on a night when motion runs continuously. Reducing the camera's own encoder to 2 Mbps restores a full 3-day window at no cost in compute and little visible quality loss. That is a camera setting, not a code change — which is why retention is quoted as a target here, not a guarantee, until a week of field measurement replaces the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Server internals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Request paths, the data model, and the caching that keeps it cheap.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What the server actually does per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D · SERVER INTERNALS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0874959" cy="292608"/>
          </a:xfrm>
          <a:prstGeom prst="rect">
            <a:avLst/>
          </a:prstGeom>
          <a:solidFill>
            <a:srgbClr val="E4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99032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5585" y="1399032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5575" y="1399032"/>
            <a:ext cx="1992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567" y="1399032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37360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Config version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5585" y="1737360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1 per device per 30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1737360"/>
            <a:ext cx="1992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2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567" y="1737360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Serves a stored hash; no assembly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048256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121408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Full config 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5585" y="2121408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only when 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575" y="2121408"/>
            <a:ext cx="1992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cache hit → 0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0567" y="2121408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Content-addressed by 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505456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Heartbeat ingest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5585" y="2505456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1 per device per 60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5575" y="2505456"/>
            <a:ext cx="1992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1 insert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567" y="2505456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Runs off the event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816352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2889504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Live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5585" y="2889504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1 per camera per 5 s per 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5575" y="2889504"/>
            <a:ext cx="1992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0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0567" y="2889504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Device lookup and image both cached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273552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Detection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5585" y="3273552"/>
            <a:ext cx="242711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on demand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5575" y="3273552"/>
            <a:ext cx="1992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1 indexed 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0567" y="3273552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Index added; previously a full table scan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1371600"/>
            <a:ext cx="10874959" cy="2212848"/>
          </a:xfrm>
          <a:prstGeom prst="rect">
            <a:avLst/>
          </a:prstGeom>
          <a:noFill/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703320"/>
            <a:ext cx="2743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7A66"/>
                </a:solidFill>
                <a:latin typeface="Segoe UI"/>
              </a:rPr>
              <a:t>~0.35 req/s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251959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total, at 7 devices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47141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7C8474"/>
                </a:solidFill>
                <a:latin typeface="Segoe UI"/>
              </a:rPr>
              <a:t>The server is not the constraint and will not be for a long time.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50208" y="3657600"/>
            <a:ext cx="7589520" cy="1046988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50208" y="3657600"/>
            <a:ext cx="41148" cy="1046988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51376" y="3758184"/>
            <a:ext cx="7223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CONFIGURATION ASSEMBLY USED TO DOMINATE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51376" y="3986784"/>
            <a:ext cx="7187184" cy="6355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Building one device's configuration is eight sequential queries plus a hash. Served from a hosted database ~130 ms away that was roughly a second per assembly, and it ran on every poll. It is now a stored value plus a cache, against a database on the same host.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The cache that makes it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A small design decision with disproportionate consequences.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D · SERVER INTERNALS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2221992"/>
            <a:ext cx="3840480" cy="86868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382012"/>
            <a:ext cx="3694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2018"/>
                </a:solidFill>
                <a:latin typeface="Segoe UI"/>
              </a:rPr>
              <a:t>Cache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74620"/>
            <a:ext cx="36941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(device id, config version)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41848" y="2651760"/>
            <a:ext cx="640080" cy="0"/>
          </a:xfrm>
          <a:prstGeom prst="line">
            <a:avLst/>
          </a:prstGeom>
          <a:ln w="2032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27648" y="2221992"/>
            <a:ext cx="4206240" cy="86868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82012"/>
            <a:ext cx="4059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…and the version IS the content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4620"/>
            <a:ext cx="4059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7C8474"/>
                </a:solidFill>
                <a:latin typeface="Consolas"/>
              </a:rPr>
              <a:t>so the key contains the value's identity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49300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It cannot serve stale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If the configuration changes the hash changes, so the old key is simply never requested again.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096511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14215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No invalidation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Nothing to get wrong, no TTL to tune, no cross-process messaging.</a:t>
            </a:r>
          </a:p>
        </p:txBody>
      </p:sp>
      <p:sp>
        <p:nvSpPr>
          <p:cNvPr id="21" name="Oval 20"/>
          <p:cNvSpPr/>
          <p:nvPr/>
        </p:nvSpPr>
        <p:spPr>
          <a:xfrm>
            <a:off x="6327648" y="349300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410712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Safe across multiple 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85032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A second process with a cold cache does more work — never wrong work. This is what makes horizontal scaling free later.</a:t>
            </a:r>
          </a:p>
        </p:txBody>
      </p:sp>
      <p:sp>
        <p:nvSpPr>
          <p:cNvPr id="24" name="Oval 23"/>
          <p:cNvSpPr/>
          <p:nvPr/>
        </p:nvSpPr>
        <p:spPr>
          <a:xfrm>
            <a:off x="6327648" y="4334256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Bounded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26280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One entry per device. Writing a new version evicts the old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965192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965192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06577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SCALING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29437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This is the single reason the server can be scaled out horizontally without designing a cache coherence scheme first. It is cited again in section 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Ten configuration tables plus the detection history. One partition key throughout.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D · SERVER INTERNALS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21408"/>
            <a:ext cx="2322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474"/>
                </a:solidFill>
                <a:latin typeface="Consolas"/>
              </a:rPr>
              <a:t>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7" y="2468880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" y="2468880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devices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" y="2852928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9" y="2852928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cameras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7" y="1993392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121408"/>
            <a:ext cx="2322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474"/>
                </a:solidFill>
                <a:latin typeface="Consolas"/>
              </a:rPr>
              <a:t>DETECTION TUNING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0168" y="2468880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468880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class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0168" y="2852928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852928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CLIP prompts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0168" y="3236976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236976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CLIP distractors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0168" y="3621024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621024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global 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1993392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2121408"/>
            <a:ext cx="2322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474"/>
                </a:solidFill>
                <a:latin typeface="Consolas"/>
              </a:rPr>
              <a:t>DETERRENCE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2468880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68880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deterrence global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2852928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852928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deterrence targets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1993392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19" y="2121408"/>
            <a:ext cx="2322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474"/>
                </a:solidFill>
                <a:latin typeface="Consolas"/>
              </a:rPr>
              <a:t>OPERATIONAL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08007" y="2468880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2468880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device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08007" y="2852928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59" y="2852928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audit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08007" y="3236976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59" y="3236976"/>
            <a:ext cx="2139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B2018"/>
                </a:solidFill>
                <a:latin typeface="Segoe UI"/>
              </a:rPr>
              <a:t>detections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297680"/>
            <a:ext cx="10874959" cy="85039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4297680"/>
            <a:ext cx="41148" cy="85039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4398264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DEVICE ID IS THE PARTITION KEY EVERYWHERE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4626864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Every configuration table is keyed by device. That is why a device's whole configuration assembles with one predictable set of queries — and why sharding by device is a natural future move rather than a rewrite.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Deployment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One code artifact, many boxes — and what happens when something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One artifact, many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Every Jetson runs byte-identical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E ·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39112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762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8474"/>
                </a:solidFill>
                <a:latin typeface="Consolas"/>
              </a:rPr>
              <a:t>ON EVERY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018"/>
                </a:solidFill>
                <a:latin typeface="Consolas"/>
              </a:rPr>
              <a:t>releases/&lt;tag&gt;/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54203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353"/>
                </a:solidFill>
                <a:latin typeface="Segoe UI"/>
              </a:rPr>
              <a:t>immutable code, one dir per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9504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018"/>
                </a:solidFill>
                <a:latin typeface="Consolas"/>
              </a:rPr>
              <a:t>current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8895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353"/>
                </a:solidFill>
                <a:latin typeface="Segoe UI"/>
              </a:rPr>
              <a:t>symlink; a deploy flips this atomically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6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018"/>
                </a:solidFill>
                <a:latin typeface="Consolas"/>
              </a:rPr>
              <a:t>models/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23697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353"/>
                </a:solidFill>
                <a:latin typeface="Segoe UI"/>
              </a:rPr>
              <a:t>inference engines — survive deploys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8444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018"/>
                </a:solidFill>
                <a:latin typeface="Consolas"/>
              </a:rPr>
              <a:t>/var/lib/…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58444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353"/>
                </a:solidFill>
                <a:latin typeface="Segoe UI"/>
              </a:rPr>
              <a:t>config cache — survives deploys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B2018"/>
                </a:solidFill>
                <a:latin typeface="Consolas"/>
              </a:rPr>
              <a:t>/mnt/data/…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9319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6353"/>
                </a:solidFill>
                <a:latin typeface="Segoe UI"/>
              </a:rPr>
              <a:t>recordings — never touched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039112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21762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F7A66"/>
                </a:solidFill>
                <a:latin typeface="Consolas"/>
              </a:rPr>
              <a:t>THE ONLY PER-DEVICE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25603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018"/>
                </a:solidFill>
                <a:latin typeface="Consolas"/>
              </a:rPr>
              <a:t>device id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018"/>
                </a:solidFill>
                <a:latin typeface="Consolas"/>
              </a:rPr>
              <a:t>api token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B2018"/>
                </a:solidFill>
                <a:latin typeface="Consolas"/>
              </a:rPr>
              <a:t>server 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685032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Everything else — cameras, credentials, regions of interest,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thresholds, retention — comes from the server.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535424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535424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636008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WHY THIS MATTERS AT FLEET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864608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Two boxes can be diffed and must match exactly. Configuration drift between sites — the classic way a fleet becomes unmaintainable — is structurally impossible rather than merely discouraged.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Deploying to the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One command. It is designed to stop rather than to finish.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E ·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76272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36292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Preflight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628900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reachable, disk free, identity present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5" y="2606040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1215" y="2176272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336292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628900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ship the tagged tree to a temp dir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55464" y="2606040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84064" y="2176272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2336292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Swap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628900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atomic symlink flip, restart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68312" y="2606040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96912" y="2176272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3" y="2336292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Health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3" y="2628900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service active, not restart-looping, fresh heartbeat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81159" y="2606040"/>
            <a:ext cx="228600" cy="0"/>
          </a:xfrm>
          <a:prstGeom prst="line">
            <a:avLst/>
          </a:prstGeom>
          <a:ln w="17780">
            <a:solidFill>
              <a:srgbClr val="1F7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09759" y="2176272"/>
            <a:ext cx="1965960" cy="868680"/>
          </a:xfrm>
          <a:prstGeom prst="roundRect">
            <a:avLst>
              <a:gd name="adj" fmla="val 6000"/>
            </a:avLst>
          </a:prstGeom>
          <a:solidFill>
            <a:srgbClr val="D6E7E0"/>
          </a:solidFill>
          <a:ln w="12700">
            <a:solidFill>
              <a:srgbClr val="1F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1" y="2336292"/>
            <a:ext cx="1819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2018"/>
                </a:solidFill>
                <a:latin typeface="Segoe UI"/>
              </a:rPr>
              <a:t>Canary passes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1" y="2628900"/>
            <a:ext cx="1819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7C8474"/>
                </a:solidFill>
                <a:latin typeface="Consolas"/>
              </a:rPr>
              <a:t>only then continue to the rest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3488" y="3090672"/>
            <a:ext cx="0" cy="411480"/>
          </a:xfrm>
          <a:prstGeom prst="line">
            <a:avLst/>
          </a:prstGeom>
          <a:ln w="20320">
            <a:solidFill>
              <a:srgbClr val="A83C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79007" y="3529584"/>
            <a:ext cx="3108960" cy="457200"/>
          </a:xfrm>
          <a:prstGeom prst="roundRect">
            <a:avLst>
              <a:gd name="adj" fmla="val 6000"/>
            </a:avLst>
          </a:prstGeom>
          <a:solidFill>
            <a:srgbClr val="F7E3DD"/>
          </a:solidFill>
          <a:ln w="12700">
            <a:solidFill>
              <a:srgbClr val="A83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59" y="3529584"/>
            <a:ext cx="29626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2018"/>
                </a:solidFill>
                <a:latin typeface="Segoe UI"/>
              </a:rPr>
              <a:t>fails → roll back, halt rollout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431596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233672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Canary by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07992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One box first, health-gated. A bad release reaching all seven sites at once is the failure this exists to prevent — each one is a drive into a forest.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" y="515721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74919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Sequential, not parallel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49239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A failure stops the rollout instead of racing ahead of it.</a:t>
            </a:r>
          </a:p>
        </p:txBody>
      </p:sp>
      <p:sp>
        <p:nvSpPr>
          <p:cNvPr id="36" name="Oval 35"/>
          <p:cNvSpPr/>
          <p:nvPr/>
        </p:nvSpPr>
        <p:spPr>
          <a:xfrm>
            <a:off x="6327648" y="4315968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33672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Rollback is a symlink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507992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The previous release is still on disk. Reverting is flipping a pointer and restarting — seconds, not a redeploy.</a:t>
            </a:r>
          </a:p>
        </p:txBody>
      </p:sp>
      <p:sp>
        <p:nvSpPr>
          <p:cNvPr id="39" name="Oval 38"/>
          <p:cNvSpPr/>
          <p:nvPr/>
        </p:nvSpPr>
        <p:spPr>
          <a:xfrm>
            <a:off x="6327648" y="5157215"/>
            <a:ext cx="91440" cy="91440"/>
          </a:xfrm>
          <a:prstGeom prst="ellipse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074919"/>
            <a:ext cx="48646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018"/>
                </a:solidFill>
                <a:latin typeface="Segoe UI"/>
              </a:rPr>
              <a:t>Offline boxes are reported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349239"/>
            <a:ext cx="486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5A6353"/>
                </a:solidFill>
                <a:latin typeface="Segoe UI"/>
              </a:rPr>
              <a:t>Push deployment cannot update a powered-off box. It is named in the summary rather than silently skipped.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What actually happens when each part fails.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E ·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10874959" cy="292608"/>
          </a:xfrm>
          <a:prstGeom prst="rect">
            <a:avLst/>
          </a:prstGeom>
          <a:solidFill>
            <a:srgbClr val="E4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9384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What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0587" y="1929384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Immediate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3074" y="1929384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Detection continues?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5565" y="1929384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67712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Internet at a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0587" y="2267712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 alerts, no dashboard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074" y="2267712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Yes — fully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5565" y="2267712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Automatic on reconnect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578608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651760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Server or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0587" y="2651760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 config changes, no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3074" y="2651760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Yes — cached 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5565" y="2651760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Automatic; devices back off and resync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035808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 Jetson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0587" y="3035808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That site goes dark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074" y="3035808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No, that site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5565" y="3035808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Service auto-restarts; unlimited retries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346703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419856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One 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60587" y="3419856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That view is lost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3074" y="3419856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Yes — others unaffected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5565" y="3419856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Pipeline rebuilt automatically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803904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 bad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0587" y="3803904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Caught on the canary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3074" y="3803904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Yes — rollout halted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5565" y="3803904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Automatic 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114800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187952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Disk fills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0587" y="4187952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Oldest footage reclaimed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3074" y="4187952"/>
            <a:ext cx="22096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5565" y="4187952"/>
            <a:ext cx="2644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Two-rule cleanup, floor-protected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1901952"/>
            <a:ext cx="10874959" cy="2596896"/>
          </a:xfrm>
          <a:prstGeom prst="rect">
            <a:avLst/>
          </a:prstGeom>
          <a:noFill/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965192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965192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506577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THE PATTERN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529437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There is no single failure that stops detection everywhere. The only component whose loss takes a site off the air is that site's own hardware.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Capacity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Measured limits today, and the engineering path well beyond the current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Where the limits actually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Per Jetson. None of these are hardware ceilings.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F ·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6766560" cy="292608"/>
          </a:xfrm>
          <a:prstGeom prst="rect">
            <a:avLst/>
          </a:prstGeom>
          <a:solidFill>
            <a:srgbClr val="E4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9384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4057" y="1929384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929384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Headroom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Hardware video 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57" y="2267712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~60% utilised at 8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267712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Not the 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78608"/>
            <a:ext cx="6766560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51760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Inference 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4057" y="2651760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Paced; concurrency work 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651760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Roughly 3×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035808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Memory (8 GB shared)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4057" y="3035808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~4.6 GB at 8 cameras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035808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Tight but sufficient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46703"/>
            <a:ext cx="6766560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19856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Video 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4057" y="3419856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The real ceiling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419856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Removed by recording the camera stream directly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803904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Disk capacity (465 GB)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4057" y="3803904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~2.4 days at 8 cameras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3803904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3 days at a lower camera bitrate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14800"/>
            <a:ext cx="6766560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187952"/>
            <a:ext cx="225308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Site uplink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4057" y="4187952"/>
            <a:ext cx="21177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Bounded by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4187952"/>
            <a:ext cx="1847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Not the limit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1901952"/>
            <a:ext cx="6766560" cy="2596896"/>
          </a:xfrm>
          <a:prstGeom prst="rect">
            <a:avLst/>
          </a:prstGeom>
          <a:noFill/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8" y="18562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8474"/>
                </a:solidFill>
                <a:latin typeface="Consolas"/>
              </a:rPr>
              <a:t>CAMERAS PER BOX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8" y="2221992"/>
            <a:ext cx="3657600" cy="6035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23774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Today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3888" y="23042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900" b="1" i="0">
                <a:solidFill>
                  <a:srgbClr val="7C8474"/>
                </a:solidFill>
                <a:latin typeface="Segoe UI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2128" y="2935224"/>
            <a:ext cx="3657600" cy="6035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5008" y="30906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After current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33888" y="30175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900" b="1" i="0">
                <a:solidFill>
                  <a:srgbClr val="1F7A66"/>
                </a:solidFill>
                <a:latin typeface="Segoe UI"/>
              </a:rPr>
              <a:t>5–6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82128" y="3648456"/>
            <a:ext cx="3657600" cy="6035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8" y="38039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After planned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3888" y="37307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900" b="1" i="0">
                <a:solidFill>
                  <a:srgbClr val="3F7A48"/>
                </a:solidFill>
                <a:latin typeface="Segoe UI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8" y="4443983"/>
            <a:ext cx="3657600" cy="85039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82128" y="4443983"/>
            <a:ext cx="41148" cy="85039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3296" y="4544568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READ THIS 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3296" y="4773168"/>
            <a:ext cx="3255264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Every gain listed is software. The board is not the bottleneck.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Scaling beyond the current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50 cameras across 7 boxes is the contract. This is what the same architecture does past that.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F ·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2EEE1"/>
          </a:solidFill>
          <a:ln w="12700">
            <a:solidFill>
              <a:srgbClr val="3F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15798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50 cams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7 boxes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077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F7A48"/>
                </a:solidFill>
                <a:latin typeface="Consolas"/>
              </a:rPr>
              <a:t>Current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25526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No changes needed beyond planned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993392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2EEE1"/>
          </a:solidFill>
          <a:ln w="12700">
            <a:solidFill>
              <a:srgbClr val="3F7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15798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100 cams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13 boxes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9077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F7A48"/>
                </a:solidFill>
                <a:latin typeface="Consolas"/>
              </a:rPr>
              <a:t>No architectural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25526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Server load still under 1 req/s. Batch the deployment; collapse one dashboard query.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993392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F7EED6"/>
          </a:solidFill>
          <a:ln w="12700">
            <a:solidFill>
              <a:srgbClr val="8A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15798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250 cams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32 boxes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9077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6412"/>
                </a:solidFill>
                <a:latin typeface="Consolas"/>
              </a:rPr>
              <a:t>Two known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25526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Run multiple server workers — already safe because of the cache design. Parallelise deployment.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1993392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F7EED6"/>
          </a:solidFill>
          <a:ln w="12700">
            <a:solidFill>
              <a:srgbClr val="8A6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2157984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500+ cams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018"/>
                </a:solidFill>
                <a:latin typeface="Segoe UI"/>
              </a:rPr>
              <a:t>60+ boxes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1" y="29077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6412"/>
                </a:solidFill>
                <a:latin typeface="Consolas"/>
              </a:rPr>
              <a:t>Structural moves 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325526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Shard by device id — already the partition key. Read replica. Devices self-update instead of being pushed 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690872"/>
            <a:ext cx="10874959" cy="850392"/>
          </a:xfrm>
          <a:prstGeom prst="rect">
            <a:avLst/>
          </a:prstGeom>
          <a:solidFill>
            <a:srgbClr val="E2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690872"/>
            <a:ext cx="41148" cy="850392"/>
          </a:xfrm>
          <a:prstGeom prst="rect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79145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3F7A48"/>
                </a:solidFill>
                <a:latin typeface="Consolas"/>
              </a:rPr>
              <a:t>THE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02005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Nothing on this path is a rewrite. Each step is a known, bounded change — and the two that matter most (horizontal server scaling and sharding) are already unblocked by decisions taken in the current design.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Why it scales — six structural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F ·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41148" cy="105156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Edge autonomy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Sites do not depend on the server to function, so adding sites adds no coupling.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41732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417320"/>
            <a:ext cx="41148" cy="105156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636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Stateless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9280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All durable state is in the database or on disk. Additional servers are additive.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5176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651760"/>
            <a:ext cx="41148" cy="105156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980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Content-addressed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272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Correct across processes by construction, so horizontal scaling needs no coherence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65176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2651760"/>
            <a:ext cx="41148" cy="105156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7980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Device-keyed partitioning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One partition key throughout — the natural sharding boundary already exists.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862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886200"/>
            <a:ext cx="41148" cy="105156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325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Immutable releases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616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Deployment cost per box is constant and parallelisable; rollback is a pointer flip.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8862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3886200"/>
            <a:ext cx="41148" cy="105156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3250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2018"/>
                </a:solidFill>
                <a:latin typeface="Segoe UI"/>
              </a:rPr>
              <a:t>Mesh networking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616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353"/>
                </a:solidFill>
                <a:latin typeface="Segoe UI"/>
              </a:rPr>
              <a:t>No VPN concentrator to become a bottleneck. Adding a site is a constant-time operation.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Known limits and honest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353"/>
                </a:solidFill>
                <a:latin typeface="Segoe UI"/>
              </a:rPr>
              <a:t>What a reviewer should push 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27632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F ·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10874959" cy="292608"/>
          </a:xfrm>
          <a:prstGeom prst="rect">
            <a:avLst/>
          </a:prstGeom>
          <a:solidFill>
            <a:srgbClr val="E4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9384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84" y="1929384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5572" y="1929384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C8474"/>
                </a:solidFill>
                <a:latin typeface="Consolas"/>
              </a:rPr>
              <a:t>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67712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Single shared admin credential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84" y="2267712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No per-user audit or revocation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5572" y="2267712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User accounts with roles are the next work item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78608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51760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Devices hold a database credential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84" y="2651760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 stolen box is a wider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5572" y="2651760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Reduced to insert-only; routing alerts via the server removes it entirely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035808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Alert imagery is not centralised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84" y="3035808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History shows text, not photographs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5572" y="3035808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Designed; ships with the alert-routing 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46703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19856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Deployment is push-based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84" y="3419856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A powered-off box is not updated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5572" y="3419856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Reported, not silent. Self-update is the answer past ~20 boxes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803904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Single server instance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84" y="3803904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One host to 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5572" y="3803904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Backed up and restorable; horizontal scaling already unblocked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14800"/>
            <a:ext cx="10874959" cy="384048"/>
          </a:xfrm>
          <a:prstGeom prst="rect">
            <a:avLst/>
          </a:prstGeom>
          <a:solidFill>
            <a:srgbClr val="F3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187952"/>
            <a:ext cx="28621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Disk figures are modelled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84" y="4187952"/>
            <a:ext cx="307960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Retention window unproven at 8 cameras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5572" y="4187952"/>
            <a:ext cx="43846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018"/>
                </a:solidFill>
                <a:latin typeface="Segoe UI"/>
              </a:rPr>
              <a:t>One instrumented week of soak replaces the estimate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1901952"/>
            <a:ext cx="10874959" cy="2596896"/>
          </a:xfrm>
          <a:prstGeom prst="rect">
            <a:avLst/>
          </a:prstGeom>
          <a:noFill/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965192"/>
            <a:ext cx="10874959" cy="850392"/>
          </a:xfrm>
          <a:prstGeom prst="rect">
            <a:avLst/>
          </a:prstGeom>
          <a:solidFill>
            <a:srgbClr val="D6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965192"/>
            <a:ext cx="41148" cy="850392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065776"/>
            <a:ext cx="105091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F7A66"/>
                </a:solidFill>
                <a:latin typeface="Consolas"/>
              </a:rPr>
              <a:t>STATED DELIBERATELY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294376"/>
            <a:ext cx="10472623" cy="438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Every item above is known, bounded and sequenced. None of them blocks running the current fleet; the first two block giving an external customer a login.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377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F7A66"/>
                </a:solidFill>
                <a:latin typeface="Segoe UI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2E7DC"/>
                </a:solidFill>
                <a:latin typeface="Segoe U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43484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2AC99"/>
                </a:solidFill>
                <a:latin typeface="Segoe UI"/>
              </a:rPr>
              <a:t>What is built, what is pending, and in what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8826F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Built versus pending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G ·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3F7A48"/>
                </a:solidFill>
                <a:latin typeface="Consolas"/>
              </a:rPr>
              <a:t>COMPLETE</a:t>
            </a:r>
          </a:p>
        </p:txBody>
      </p:sp>
      <p:sp>
        <p:nvSpPr>
          <p:cNvPr id="8" name="Oval 7"/>
          <p:cNvSpPr/>
          <p:nvPr/>
        </p:nvSpPr>
        <p:spPr>
          <a:xfrm>
            <a:off x="676656" y="1755648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Edge pipeline correctness and pacing</a:t>
            </a:r>
          </a:p>
        </p:txBody>
      </p:sp>
      <p:sp>
        <p:nvSpPr>
          <p:cNvPr id="10" name="Oval 9"/>
          <p:cNvSpPr/>
          <p:nvPr/>
        </p:nvSpPr>
        <p:spPr>
          <a:xfrm>
            <a:off x="676656" y="2139696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031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Device-agnostic single artifact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523744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8716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Fleet provisioning and deployment tooling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2907791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87121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Canary, health gate, automatic rollback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" y="3291839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5526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Server caching and event-loop correctness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675887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6393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Bandwidth controls on live video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4059935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0233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Retention, backups and restore testing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" y="4443983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4074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Route-level authorisation with enforcing tests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828031"/>
            <a:ext cx="201168" cy="201168"/>
          </a:xfrm>
          <a:prstGeom prst="ellipse">
            <a:avLst/>
          </a:prstGeom>
          <a:solidFill>
            <a:srgbClr val="3F7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7914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Self-hosted database design and installer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1371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A6412"/>
                </a:solidFill>
                <a:latin typeface="Consolas"/>
              </a:rPr>
              <a:t>PENDING</a:t>
            </a:r>
          </a:p>
        </p:txBody>
      </p:sp>
      <p:sp>
        <p:nvSpPr>
          <p:cNvPr id="27" name="Oval 26"/>
          <p:cNvSpPr/>
          <p:nvPr/>
        </p:nvSpPr>
        <p:spPr>
          <a:xfrm>
            <a:off x="6345936" y="1755648"/>
            <a:ext cx="201168" cy="201168"/>
          </a:xfrm>
          <a:prstGeom prst="ellipse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7" y="171907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Record the camera stream directly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19751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8474"/>
                </a:solidFill>
                <a:latin typeface="Segoe UI"/>
              </a:rPr>
              <a:t>removes the encoding ceiling — 8 cameras per box</a:t>
            </a:r>
          </a:p>
        </p:txBody>
      </p:sp>
      <p:sp>
        <p:nvSpPr>
          <p:cNvPr id="30" name="Oval 29"/>
          <p:cNvSpPr/>
          <p:nvPr/>
        </p:nvSpPr>
        <p:spPr>
          <a:xfrm>
            <a:off x="6345936" y="2359152"/>
            <a:ext cx="201168" cy="201168"/>
          </a:xfrm>
          <a:prstGeom prst="ellipse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23225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Inference concurrency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7" y="25786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8474"/>
                </a:solidFill>
                <a:latin typeface="Segoe UI"/>
              </a:rPr>
              <a:t>roughly 3× throughput</a:t>
            </a:r>
          </a:p>
        </p:txBody>
      </p:sp>
      <p:sp>
        <p:nvSpPr>
          <p:cNvPr id="33" name="Oval 32"/>
          <p:cNvSpPr/>
          <p:nvPr/>
        </p:nvSpPr>
        <p:spPr>
          <a:xfrm>
            <a:off x="6345936" y="2962656"/>
            <a:ext cx="201168" cy="201168"/>
          </a:xfrm>
          <a:prstGeom prst="ellipse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7" y="29260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Route alerts through the 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7" y="31821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8474"/>
                </a:solidFill>
                <a:latin typeface="Segoe UI"/>
              </a:rPr>
              <a:t>removes the last credential from field boxes</a:t>
            </a:r>
          </a:p>
        </p:txBody>
      </p:sp>
      <p:sp>
        <p:nvSpPr>
          <p:cNvPr id="36" name="Oval 35"/>
          <p:cNvSpPr/>
          <p:nvPr/>
        </p:nvSpPr>
        <p:spPr>
          <a:xfrm>
            <a:off x="6345936" y="3566160"/>
            <a:ext cx="201168" cy="201168"/>
          </a:xfrm>
          <a:prstGeom prst="ellipse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7" y="352958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User accounts and roles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7" y="378561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8474"/>
                </a:solidFill>
                <a:latin typeface="Segoe UI"/>
              </a:rPr>
              <a:t>prerequisite for any external login</a:t>
            </a:r>
          </a:p>
        </p:txBody>
      </p:sp>
      <p:sp>
        <p:nvSpPr>
          <p:cNvPr id="39" name="Oval 38"/>
          <p:cNvSpPr/>
          <p:nvPr/>
        </p:nvSpPr>
        <p:spPr>
          <a:xfrm>
            <a:off x="6345936" y="4169664"/>
            <a:ext cx="201168" cy="201168"/>
          </a:xfrm>
          <a:prstGeom prst="ellipse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7" y="4133087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Client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7" y="43891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8474"/>
                </a:solidFill>
                <a:latin typeface="Segoe UI"/>
              </a:rPr>
              <a:t>read-only, scoped per customer</a:t>
            </a:r>
          </a:p>
        </p:txBody>
      </p:sp>
      <p:sp>
        <p:nvSpPr>
          <p:cNvPr id="42" name="Oval 41"/>
          <p:cNvSpPr/>
          <p:nvPr/>
        </p:nvSpPr>
        <p:spPr>
          <a:xfrm>
            <a:off x="6345936" y="4773168"/>
            <a:ext cx="201168" cy="201168"/>
          </a:xfrm>
          <a:prstGeom prst="ellipse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3407" y="47365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B2018"/>
                </a:solidFill>
                <a:latin typeface="Segoe UI"/>
              </a:rPr>
              <a:t>Alert photographs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7" y="4992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8474"/>
                </a:solidFill>
                <a:latin typeface="Segoe UI"/>
              </a:rPr>
              <a:t>ships with alert routing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B2018"/>
                </a:solidFill>
                <a:latin typeface="Segoe UI"/>
              </a:rPr>
              <a:t>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12801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C7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G ·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8474"/>
                </a:solidFill>
                <a:latin typeface="Consola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45720" cy="1060704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002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7A66"/>
                </a:solidFill>
                <a:latin typeface="Consola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563624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018"/>
                </a:solidFill>
                <a:latin typeface="Segoe UI"/>
              </a:rPr>
              <a:t>Deploy the current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47672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Server on its own host, first Jetson in the field, one week of instrumented soak to replace modelled disk figures with measured 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87752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587752"/>
            <a:ext cx="45720" cy="1060704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7706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7A66"/>
                </a:solidFill>
                <a:latin typeface="Consola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734056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018"/>
                </a:solidFill>
                <a:latin typeface="Segoe UI"/>
              </a:rPr>
              <a:t>Reach 8 cameras per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118104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Direct stream recording and inference concurrency. This is what makes 50 cameras fit in 7 boxes rather than 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58184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758184"/>
            <a:ext cx="45720" cy="1060704"/>
          </a:xfrm>
          <a:prstGeom prst="rect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9410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6412"/>
                </a:solidFill>
                <a:latin typeface="Consolas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90448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018"/>
                </a:solidFill>
                <a:latin typeface="Segoe UI"/>
              </a:rPr>
              <a:t>Close the security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4288536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Alert routing through the server, user accounts with roles. Both are prerequisites for handing a customer a login.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28616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3F5EF"/>
          </a:solidFill>
          <a:ln w="12700">
            <a:solidFill>
              <a:srgbClr val="C7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928616"/>
            <a:ext cx="45720" cy="1060704"/>
          </a:xfrm>
          <a:prstGeom prst="rect">
            <a:avLst/>
          </a:prstGeom>
          <a:solidFill>
            <a:srgbClr val="8A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11149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6412"/>
                </a:solidFill>
                <a:latin typeface="Consolas"/>
              </a:rPr>
              <a:t>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507492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2018"/>
                </a:solidFill>
                <a:latin typeface="Segoe UI"/>
              </a:rPr>
              <a:t>Customer-facing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5458968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353"/>
                </a:solidFill>
                <a:latin typeface="Segoe UI"/>
              </a:rPr>
              <a:t>Read-only, scoped to a customer's own sites, with alert photographs.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2E7DC"/>
                </a:solidFill>
                <a:latin typeface="Segoe U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6324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A2AC99"/>
                </a:solidFill>
                <a:latin typeface="Segoe UI"/>
              </a:rPr>
              <a:t>Detection is autonomous at each site, configuration is centralised and versioned,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A2AC99"/>
                </a:solidFill>
                <a:latin typeface="Segoe UI"/>
              </a:rPr>
              <a:t>every box runs identical code deployed with a canary and automatic rollback —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A2AC99"/>
                </a:solidFill>
                <a:latin typeface="Segoe UI"/>
              </a:rPr>
              <a:t>and the parts that would have to change to go well past 50 cameras are already unblocked.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800600"/>
            <a:ext cx="2194560" cy="25603"/>
          </a:xfrm>
          <a:prstGeom prst="rect">
            <a:avLst/>
          </a:prstGeom>
          <a:solidFill>
            <a:srgbClr val="1F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826F"/>
                </a:solidFill>
                <a:latin typeface="Consolas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